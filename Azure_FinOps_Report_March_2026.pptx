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Month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Virtual Machines</c:v>
                </c:pt>
                <c:pt idx="1">
                  <c:v>SQL Database</c:v>
                </c:pt>
                <c:pt idx="2">
                  <c:v>Kubernetes Service</c:v>
                </c:pt>
                <c:pt idx="3">
                  <c:v>Storage Accounts</c:v>
                </c:pt>
                <c:pt idx="4">
                  <c:v>Firewall / NVA</c:v>
                </c:pt>
                <c:pt idx="5">
                  <c:v>App Service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28400</c:v>
                </c:pt>
                <c:pt idx="1">
                  <c:v>18600</c:v>
                </c:pt>
                <c:pt idx="2">
                  <c:v>14200</c:v>
                </c:pt>
                <c:pt idx="3">
                  <c:v>8900</c:v>
                </c:pt>
                <c:pt idx="4">
                  <c:v>7400</c:v>
                </c:pt>
                <c:pt idx="5">
                  <c:v>4100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96-6147-8BF6-F299FB8EB1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Month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Virtual Machines</c:v>
                </c:pt>
                <c:pt idx="1">
                  <c:v>SQL Database</c:v>
                </c:pt>
                <c:pt idx="2">
                  <c:v>Kubernetes Service</c:v>
                </c:pt>
                <c:pt idx="3">
                  <c:v>Storage Accounts</c:v>
                </c:pt>
                <c:pt idx="4">
                  <c:v>Firewall / NVA</c:v>
                </c:pt>
                <c:pt idx="5">
                  <c:v>App Service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24200</c:v>
                </c:pt>
                <c:pt idx="1">
                  <c:v>18100</c:v>
                </c:pt>
                <c:pt idx="2">
                  <c:v>12800</c:v>
                </c:pt>
                <c:pt idx="3">
                  <c:v>9200</c:v>
                </c:pt>
                <c:pt idx="4">
                  <c:v>7400</c:v>
                </c:pt>
                <c:pt idx="5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96-6147-8BF6-F299FB8EB1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Team 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F6-E54C-A82F-629694BB7584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F6-E54C-A82F-629694BB7584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F6-E54C-A82F-629694BB7584}"/>
              </c:ext>
            </c:extLst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F6-E54C-A82F-629694BB758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4AF6-E54C-A82F-629694BB758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4AF6-E54C-A82F-629694BB758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4AF6-E54C-A82F-629694BB758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4AF6-E54C-A82F-629694BB758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Platform Engineering</c:v>
                </c:pt>
                <c:pt idx="1">
                  <c:v>Data &amp; Analytics</c:v>
                </c:pt>
                <c:pt idx="2">
                  <c:v>Application Teams</c:v>
                </c:pt>
                <c:pt idx="3">
                  <c:v>Security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31200</c:v>
                </c:pt>
                <c:pt idx="1">
                  <c:v>24600</c:v>
                </c:pt>
                <c:pt idx="2">
                  <c:v>18900</c:v>
                </c:pt>
                <c:pt idx="3">
                  <c:v>9621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AF6-E54C-A82F-629694BB75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Spend (GBP)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Oct 2024</c:v>
                </c:pt>
                <c:pt idx="1">
                  <c:v>Nov 2024</c:v>
                </c:pt>
                <c:pt idx="2">
                  <c:v>Dec 2024</c:v>
                </c:pt>
                <c:pt idx="3">
                  <c:v>Jan 2025</c:v>
                </c:pt>
                <c:pt idx="4">
                  <c:v>Feb 2025</c:v>
                </c:pt>
                <c:pt idx="5">
                  <c:v>Mar 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68200</c:v>
                </c:pt>
                <c:pt idx="1">
                  <c:v>71400</c:v>
                </c:pt>
                <c:pt idx="2">
                  <c:v>69800</c:v>
                </c:pt>
                <c:pt idx="3">
                  <c:v>74100</c:v>
                </c:pt>
                <c:pt idx="4">
                  <c:v>76100</c:v>
                </c:pt>
                <c:pt idx="5">
                  <c:v>84321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534-1345-9C27-3C71F4782C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48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228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Service Review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Cloud Platform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£84.3k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94360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£84.3k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£90.0k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450592" y="822960"/>
            <a:ext cx="201168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450592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5059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26864" y="822960"/>
            <a:ext cx="2011680" cy="731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26864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+10.8%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26864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Change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£8.2k increase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803136" y="82296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803136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£18.6k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03136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Savings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3136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annually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85953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343814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Concern: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438144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has increased 10.8% MoM driven by VM and AKS growth. At current trajectory budget will be exceeded within 2 months without intervention.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→  Implement VM rightsizing across 14 identified candidates — assign to Platform Engineering team this sprint (saves £8.2k/yr)   |   Initiate Reserved Instance purchase process for AKS + SQL — CFO approval needed for commitment (saves £6.8k/yr)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Service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268833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Trend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Virtual Machines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£28.4k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04"/>
                          </a:solidFill>
                        </a:rPr>
                        <a:t>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SQL Database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£18.6k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→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Kubernetes Service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£14.2k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04"/>
                          </a:solidFill>
                        </a:rPr>
                        <a:t>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Storage Accounts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£8.9k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Firewall / NVA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£7.4k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→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App Service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£4.1k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04"/>
                          </a:solidFill>
                        </a:rPr>
                        <a:t>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Team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43891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9144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937760" y="9144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120640" y="969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£31.2k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223760" y="1115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11.0%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37760" y="18288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937760" y="18288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120640" y="1883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2064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£24.6k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23760" y="2029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9.8%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937760" y="27432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937760" y="27432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12064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£18.9k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2376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9.9%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937760" y="36576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937760" y="36576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12064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2064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£9.6k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14.5%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Cost Trend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6400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914400"/>
            <a:ext cx="201168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growth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£68.2k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£84.3k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Advisor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saving: £18.6k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8686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406640" y="100584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406640" y="1005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£8.2k/yr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8595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or shut down underutilised virtual machines (14 VMs &lt;5% CPU)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Resize to next smaller SKU or enable auto-shutdown schedules for non-prod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406640" y="1993392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0664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£6.8k/yr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Reserved Instances for AKS node pools and SQL databases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2677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Purchase 1-year reserved capacity for production AKS + SQL — immediate saving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64008" cy="86868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406640" y="2980944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406640" y="29809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£2.1k/yr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834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23 unattached premium SSD managed disks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255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and delete or snapshot unattached disks — quick win, low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67328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64008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406640" y="3968496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406640" y="39684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£1.1k/yr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8221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infrequently accessed blob data to Cool tier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24281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Enable lifecycle management policy across 6 storage accounts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all recommendations would save approximately £18.6k per year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Inventory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2011680" cy="1737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Compliance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untagged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804672"/>
          <a:ext cx="6309360" cy="3657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Resource 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Virtual Machines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5D04"/>
                          </a:solidFill>
                        </a:rPr>
                        <a:t>+8 this 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Managed Disks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5D04"/>
                          </a:solidFill>
                        </a:rPr>
                        <a:t>+12 this 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Storage Accounts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SQL Databases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5D04"/>
                          </a:solidFill>
                        </a:rPr>
                        <a:t>+2 this 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AKS Clusters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App Service Plans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5D04"/>
                          </a:solidFill>
                        </a:rPr>
                        <a:t>+1 this 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Key Vaults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5D04"/>
                          </a:solidFill>
                        </a:rPr>
                        <a:t>+3 this month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 for the next 30 days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63677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636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600200"/>
            <a:ext cx="749808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VM rightsizing across 14 identified candidates — assign to Platform Engineering team this sprint (saves £8.2k/yr)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414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404872"/>
            <a:ext cx="749808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417320" y="2404872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Reserved Instance purchase process for AKS + SQL — CFO approval needed for commitment (saves £6.8k/yr)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3209544"/>
            <a:ext cx="749808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417320" y="3209544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tagging remediation sweep — 135 untagged resources blocking accurate team attribution and cost allocation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0507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4440" y="4014216"/>
            <a:ext cx="749808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2A4A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417320" y="401421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alert at 85% threshold and review AKS/VM growth drivers with application teams before next billing cycle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Azure FinOps Agent  |  March 2026  |  Cloud Platform Team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525</Words>
  <Application>Microsoft Macintosh PowerPoint</Application>
  <PresentationFormat>On-screen Show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FinOps Report – March 2025</dc:title>
  <dc:subject>PptxGenJS Presentation</dc:subject>
  <dc:creator>FinOps Agent</dc:creator>
  <cp:lastModifiedBy>Denis Cooper</cp:lastModifiedBy>
  <cp:revision>2</cp:revision>
  <dcterms:created xsi:type="dcterms:W3CDTF">2026-04-03T13:37:55Z</dcterms:created>
  <dcterms:modified xsi:type="dcterms:W3CDTF">2026-04-05T14:43:59Z</dcterms:modified>
</cp:coreProperties>
</file>